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embeddedFontLst>
    <p:embeddedFont>
      <p:font typeface="微软雅黑" panose="020B0503020204020204" charset="-122"/>
      <p:regular r:id="rId25"/>
      <p:bold r:id="rId26"/>
    </p:embeddedFont>
    <p:embeddedFont>
      <p:font typeface="等线" panose="02010600030101010101" charset="-122"/>
      <p:regular r:id="rId27"/>
      <p:bold r:id="rId28"/>
    </p:embeddedFont>
    <p:embeddedFont>
      <p:font typeface="等线 Light" panose="02010600030101010101" charset="-122"/>
      <p:regular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D94A"/>
    <a:srgbClr val="74C7B5"/>
    <a:srgbClr val="4DE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34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7038F-C634-4229-BD40-DC87235930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21031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BED7EF"/>
                </a:solidFill>
                <a:latin typeface="微软雅黑" panose="020B0503020204020204" charset="-122"/>
              </a:rPr>
              <a:t>通信中间件性能评测</a:t>
            </a:r>
            <a:endParaRPr sz="1000" b="1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44200" cy="5397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四种通信中间件</a:t>
            </a:r>
            <a:r>
              <a:rPr lang="zh-CN" sz="2800" b="1" i="0">
                <a:solidFill>
                  <a:srgbClr val="FFFFFF"/>
                </a:solidFill>
                <a:latin typeface="微软雅黑" panose="020B0503020204020204" charset="-122"/>
              </a:rPr>
              <a:t>功能与</a:t>
            </a:r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性能对比测试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05156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01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69494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微软雅黑" panose="020B0503020204020204" charset="-122"/>
              </a:rPr>
              <a:t>VSOA / MQTT / Zenoh / DDS</a:t>
            </a:r>
            <a:endParaRPr sz="3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697480"/>
            <a:ext cx="5943600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0" i="0">
                <a:solidFill>
                  <a:srgbClr val="D6E4F2"/>
                </a:solidFill>
                <a:latin typeface="微软雅黑" panose="020B0503020204020204" charset="-122"/>
              </a:rPr>
              <a:t>应用场所 · 原理 · 测试方案 · 实测结论</a:t>
            </a:r>
            <a:endParaRPr sz="1900" b="0" i="0">
              <a:solidFill>
                <a:srgbClr val="D6E4F2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474720" cy="3246120"/>
          </a:xfrm>
          <a:prstGeom prst="roundRect">
            <a:avLst/>
          </a:prstGeom>
          <a:solidFill>
            <a:srgbClr val="163D64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057400"/>
            <a:ext cx="2697480" cy="4114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305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VSOA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8160" y="2679192"/>
            <a:ext cx="2697480" cy="4114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752344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3300984"/>
            <a:ext cx="2697480" cy="411480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374136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Zenoh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3922776"/>
            <a:ext cx="2697480" cy="41148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995928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DDS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5623560"/>
            <a:ext cx="4846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ED7EF"/>
                </a:solidFill>
                <a:latin typeface="微软雅黑" panose="020B0503020204020204" charset="-122"/>
              </a:rPr>
              <a:t>汇报：通信中间件测试小组</a:t>
            </a:r>
            <a:endParaRPr sz="1200" b="0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5623560"/>
            <a:ext cx="2103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200" b="1" i="0">
                <a:solidFill>
                  <a:srgbClr val="BED7EF"/>
                </a:solidFill>
                <a:latin typeface="微软雅黑" panose="020B0503020204020204" charset="-122"/>
              </a:rPr>
              <a:t>2026.09</a:t>
            </a:r>
            <a:endParaRPr sz="1200" b="1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01  应用背景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四种中间件服务于不同的通信现场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02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微软雅黑" panose="020B0503020204020204" charset="-122"/>
              </a:rPr>
              <a:t>它们并非同类替代品；应用场所决定了拓扑、可靠性和资源取舍。</a:t>
            </a:r>
            <a:endParaRPr sz="15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130552"/>
            <a:ext cx="566928" cy="5669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 panose="020B0503020204020204" charset="-122"/>
              </a:rPr>
              <a:t>AV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7048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VSOA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航空电子 / 工业运动控制
车载电子 / 机器人控制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64992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130552"/>
            <a:ext cx="566928" cy="5669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IoT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33672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9584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IoT 设备接入
弱网遥测 / 远程监控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71616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7" y="2130552"/>
            <a:ext cx="566928" cy="566928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5572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 panose="020B0503020204020204" charset="-122"/>
              </a:rPr>
              <a:t>ROS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0296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Zenoh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6207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ROS 2 / 自动驾驶
边缘计算 / 车路协同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78240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42832" y="2130552"/>
            <a:ext cx="566928" cy="566928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3467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RTPS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46919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DDS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42832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航空航天 / ADAS
工业自动化 / 医疗设备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8368" y="4224528"/>
            <a:ext cx="3401568" cy="120700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224528"/>
            <a:ext cx="64008" cy="1207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VSOA：强实时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59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微服务 + 发布订阅 + RPC 一体；小包高频控制。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160520" y="4224528"/>
            <a:ext cx="3401568" cy="1207008"/>
          </a:xfrm>
          <a:prstGeom prst="roundRect">
            <a:avLst/>
          </a:prstGeom>
          <a:solidFill>
            <a:srgbClr val="FFF8E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4224528"/>
            <a:ext cx="64008" cy="1207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MQTT：弱网接入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25112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Broker 中继换取极简终端；QoS 分级可靠。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662672" y="4224528"/>
            <a:ext cx="3401568" cy="1207008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4224528"/>
            <a:ext cx="64008" cy="1207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7264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Zenoh / DDS：广域与确定性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27264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Zenoh 去中心；DDS 以数据为中心、QoS 丰富。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01  应用背景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从应用场所推导四个正交评价维度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03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10972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微软雅黑" panose="020B0503020204020204" charset="-122"/>
              </a:rPr>
              <a:t>应用场所 → 负载特征 → 测试维度，确保每个压力方向都有工程含义。</a:t>
            </a:r>
            <a:endParaRPr sz="15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2121408"/>
            <a:ext cx="868680" cy="86868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速率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控制指令、状态回传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小包、稳定的高频发送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7552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100–10,000 Hz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38144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42816" y="2121408"/>
            <a:ext cx="868680" cy="86868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尺寸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9312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图像、点云、配置下发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39312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单条消息体积跨度大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767328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 KiB–1 MiB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0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22592" y="2121408"/>
            <a:ext cx="868680" cy="868680"/>
          </a:xfrm>
          <a:prstGeom prst="ellipse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拓扑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9088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多传感器汇聚 / 多订阅者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19088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端数变化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47104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7104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1×1–4×4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97696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02368" y="2121408"/>
            <a:ext cx="868680" cy="86868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时间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98864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车机 / 工业现场长稳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98864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持续负载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326880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4 档 × 100 s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3127248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07024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86800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应用共性需求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38144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负载特征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0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测试因子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97696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可复现实验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原理（1）VSOA：机制决定性能拐点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04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VSOA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原生微服务 / 发布订阅框架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原生微服务 / 发布订阅框架
TCP（本次测试）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应用层分片 60,000 B；1 MiB = 18 片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整包延迟由最慢分片决定；小包高频路径占优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VSOA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</a:rPr>
              <a:t>分片阈值 60,000 B：48 KiB 不分片，64 KiB 起切换路径。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原理（2）MQTT：机制决定性能拐点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05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28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轻量级发布订阅，Broker 中继两跳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轻量级发布订阅，Broker 中继两跳
TCP；QoS 1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Broker 完整接收再转发；会话与重传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固定中继延迟；大消息多一次拷贝与排队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MQTT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</a:rPr>
              <a:t>Broker 是数据转发中心：扇出时 CPU 成本集中在单点。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原理（3）Zenoh：机制决定性能拐点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06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Zenoh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Rust 实现；可 P2P 直连、无需 Broker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Rust 实现；可 P2P 直连、无需 Broker
默认 TCP（本次配置）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Endpoint 直连；调度在 Rust runtime 内完成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中小消息延迟与 CPU 有优势；runtime 内存偏高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Zenoh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0096A0"/>
                </a:solidFill>
                <a:latin typeface="微软雅黑" panose="020B0503020204020204" charset="-122"/>
              </a:rPr>
              <a:t>无中心转发：中小消息避免额外一跳，但 runtime 需要缓冲空间。</a:t>
            </a:r>
            <a:endParaRPr sz="1300" b="1" i="0">
              <a:solidFill>
                <a:srgbClr val="0096A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原理（4）DDS：机制决定性能拐点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07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DDS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以数据为中心的 RTPS 栈（Fast DDS 3.6.2）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以数据为中心的 RTPS 栈（Fast DDS 3.6.2）
UDPv4 + reliable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自动发现 + 丰富 QoS + RTPS 分片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QoS / history / flow controller 显著影响高负载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DDS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微软雅黑" panose="020B0503020204020204" charset="-122"/>
              </a:rPr>
              <a:t>UDPv4 + reliable 与自动发现：确定性来自一致的 QoS 配置。</a:t>
            </a:r>
            <a:endParaRPr sz="13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03  横向对比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四种实现的结构性差异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08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40280"/>
                <a:gridCol w="2240280"/>
                <a:gridCol w="224028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VSOA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MQTT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Zenoh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DDS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实现形态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C++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 broker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Rust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C++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通信拓扑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直连（Position）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中继（两跳）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P2P 直连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直连（自动发现）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传输（本次）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默认 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UDPv4 / reliable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发现机制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Position 服务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会话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Endpoint 直配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自动发现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大消息策略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应用层分片 60,000 B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整体转发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原生传输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RTPS 分片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QoS 丰富度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少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QoS 0/1/2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优先级 / 可靠性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最丰富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中心节点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有（仅发现）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有（数据转发）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无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无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59" y="6190488"/>
            <a:ext cx="10607040" cy="278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32D3A"/>
                </a:solidFill>
                <a:latin typeface="微软雅黑" panose="020B0503020204020204" charset="-122"/>
              </a:rPr>
              <a:t>。</a:t>
            </a:r>
            <a:endParaRPr sz="11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场景矩阵：每个场景只动一个影响因子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09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00200"/>
                <a:gridCol w="47548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场景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影响因子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档位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主要指标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S01 点对点低延迟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发送速率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/ 500 / 1000 / 2000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延迟、P95、P99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S02 消息大小扫描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payload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4 / 16 / 32 / 48 / 64 KiB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延迟、吞吐、丢包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S03 大消息吞吐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payload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64 / 128 / 256 / 512 KiB@20 Hz + 1 MiB@5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吞吐、P95、P99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S04 发送速率扫描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发送速率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/ 1000 / 5000 / 10000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达成率、P99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S05 一对多扇出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订阅者数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2 / 3 / 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交付、资源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S06 多对一汇聚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发布者数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2 / 3 / 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交付、CPU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S07 多对多并发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P×S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1×1 … 4×4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吞吐、资源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S08 长时间稳定性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持续负载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4 档 × 100 s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漂移、内存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916168"/>
            <a:ext cx="3108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微软雅黑" panose="020B0503020204020204" charset="-122"/>
              </a:rPr>
              <a:t>统一参数组 · 统一入口 · 可断点续跑</a:t>
            </a:r>
            <a:endParaRPr sz="105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5916168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606C7A"/>
                </a:solidFill>
                <a:latin typeface="微软雅黑" panose="020B0503020204020204" charset="-122"/>
              </a:rPr>
              <a:t>拓扑默认固定为 1P / 1S，拓扑类场景除外。</a:t>
            </a:r>
            <a:endParaRPr sz="115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统一指标口径：从逐样本到派生结论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10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64008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365760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编号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公式 / 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U-1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单程延迟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(aᵢ − sᵢ) / 1e6（两端同一时基）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U-2 / U-3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均值 / 分位数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mean(d)；h=(n−1)k 线性插值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U-4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标准差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pstdev（总体标准差，ddof=0）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U-5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抖动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mean(|dᵢ − dᵢ₋₁|)，仅取相邻序号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U-6 / U-7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 / 应发吞吐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N × S × 8 / 窗口 / 1e6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U-8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丢包率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(E − N_recv) / E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U-9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达成率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达成吞吐 ÷ 应发吞吐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572768"/>
            <a:ext cx="4160520" cy="1170432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572768"/>
            <a:ext cx="64008" cy="1170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682495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净荷口径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25512" y="2020824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吞吐不含协议头、不折算重传；统一使用十进制 1e6。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0920" y="2907792"/>
            <a:ext cx="4160520" cy="117043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907792"/>
            <a:ext cx="64008" cy="1170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3017520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时间口径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25512" y="3355848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warmup=1.0 s 不计统计；drain=2.0 s 仅收尾，不计丢包。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60920" y="4242816"/>
            <a:ext cx="4160520" cy="117043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4242816"/>
            <a:ext cx="64008" cy="117043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4352544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计数口径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25512" y="4690872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一律取去重后计数；四家共用 mqtt/mqtt_metrics.py。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执行环境与数据规模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11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337560" cy="1207008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64008" cy="12070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91056"/>
            <a:ext cx="3063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环境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1929384"/>
            <a:ext cx="306324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Windows 本机回环
16 逻辑核；同一解释器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9663" y="1481328"/>
            <a:ext cx="3337560" cy="120700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9663" y="1481328"/>
            <a:ext cx="64008" cy="1207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1591056"/>
            <a:ext cx="3063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数据规模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34255" y="1929384"/>
            <a:ext cx="306324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VSOA / MQTT / Zenoh：各 35 组
DDS：32 组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0960" y="1481328"/>
            <a:ext cx="3858768" cy="12070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481328"/>
            <a:ext cx="64008" cy="1207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1591056"/>
            <a:ext cx="3584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运行方式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45552" y="1929384"/>
            <a:ext cx="35844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统一入口批量执行
结果按组落盘，支持断点续跑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" y="3063240"/>
          <a:ext cx="6492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9164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参数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取值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拓扑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1P / 1S（拓扑类除外）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保证单变量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warmup_seconds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1.0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不计入统计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drain_seconds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2.0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四家统一，避免尾部误记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S08 时长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s / 档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四档覆盖轻到重负载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校验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status = completed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未完成组重跑补齐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452360" y="3063240"/>
            <a:ext cx="4087368" cy="25146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3310128"/>
            <a:ext cx="3566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可回溯性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17536" y="3730752"/>
            <a:ext cx="347472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32D3A"/>
                </a:solidFill>
                <a:latin typeface="微软雅黑" panose="020B0503020204020204" charset="-122"/>
              </a:rPr>
              <a:t>每组结果记录完整参数与指标，可回溯到原始逐样本。
统一脚本保证四家在同一参数指纹下横向并表。</a:t>
            </a:r>
            <a:endParaRPr sz="13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延迟水平与可重复性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12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repeat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157069"/>
            <a:ext cx="7269479" cy="31016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6 个场景中都存在同一条件（1P/1S、1 KiB、1000 Hz），构成天然交叉验证。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VSOA &lt; MQTT &lt; Zenoh：排序在 6 个场景中完全一致。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VSOA 延迟水平最低且重复性最好；MQTT 尾部最稳定；Zenoh 离散度最大。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图：songfei/test/compare_repeatability.png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消息大小阶梯与分片拐点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13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2_payload_kn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110" y="1444752"/>
            <a:ext cx="678942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竖向虚线 = VSOA 分片阈值 60,000 B；48 KiB 不分片，64 KiB 起切成 2 片。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48 → 64 KiB：VSOA 均值 +47%、P99 +70%；MQTT P99 ×7.5；Zenoh 基本无跳变。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这是机制切换点：从 48 KiB 到 64 KiB 不是量变，而是路径切换。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图：songfei/test/compare_S02_payload_knee.png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大消息的尾部代价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14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3_large_message_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110" y="1444752"/>
            <a:ext cx="678942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核心指标：P99 ÷ P95，衡量尾部被拉长了几倍。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1 MiB @5 Hz：VSOA 3.44×，MQTT 1.55×，Zenoh 1.09×。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VSOA 的 18 片分片放大尾部；Zenoh 尾部最平、均值也最低。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图：songfei/test/compare_S03_large_message_tail.png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拓扑成本结构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15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5_S07_topolog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0" y="575310"/>
            <a:ext cx="6906260" cy="53955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扇出、汇聚、并发 × 延迟 / 内存 / CPU。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吞吐随 payload × 速率 × P × S 线性增长；误差 &lt;1%。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MQTT 扇出 CPU 涨幅最大；Zenoh 内存结构性偏高；延迟对拓扑规模弱敏感。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图：songfei/test/compare_S05_S07_topology.png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长时间稳定性与漂移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16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8_dri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675" y="1188720"/>
            <a:ext cx="7550785" cy="47821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S08 组2：1 KiB @1000 Hz，100 s，按 10 s 分桶。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漂移：VSOA +2.9%，MQTT −1.6%，Zenoh −18.6%。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三家均无持续劣化；差异集中在进入稳态所需时间，Zenoh 约需 25 s 预热。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图：songfei/test/compare_S08_drift.png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四条可横向引用的结论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17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932688" cy="78638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10512" y="1545336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延迟排序稳定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10512" y="1865376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4472C4"/>
                </a:solidFill>
                <a:latin typeface="微软雅黑" panose="020B0503020204020204" charset="-122"/>
              </a:rPr>
              <a:t>VSOA &lt; MQTT &lt; Zenoh</a:t>
            </a:r>
            <a:endParaRPr sz="16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1709928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6 个场景交叉验证一致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651760"/>
            <a:ext cx="932688" cy="78638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10512" y="2715768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VSOA 有明确切换点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10512" y="3035808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微软雅黑" panose="020B0503020204020204" charset="-122"/>
              </a:rPr>
              <a:t>48→64 KiB：均值 +47%、P99 +70%</a:t>
            </a:r>
            <a:endParaRPr sz="16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880360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S02 六档阶梯；四家同参数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3822191"/>
            <a:ext cx="932688" cy="786384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23359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10512" y="3886200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大消息尾部代价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10512" y="4206240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0096A0"/>
                </a:solidFill>
                <a:latin typeface="微软雅黑" panose="020B0503020204020204" charset="-122"/>
              </a:rPr>
              <a:t>VSOA 3.44× · MQTT 1.55× · Zenoh 1.09×</a:t>
            </a:r>
            <a:endParaRPr sz="1600" b="1" i="0">
              <a:solidFill>
                <a:srgbClr val="0096A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29400" y="4050791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S03 五档；与分片机制对应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992624"/>
            <a:ext cx="932688" cy="786384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9379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F4E79"/>
                </a:solidFill>
                <a:latin typeface="微软雅黑" panose="020B0503020204020204" charset="-122"/>
              </a:rPr>
              <a:t>04</a:t>
            </a:r>
            <a:endParaRPr sz="19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0512" y="5056632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资源成本结构不同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0512" y="5376672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微软雅黑" panose="020B0503020204020204" charset="-122"/>
              </a:rPr>
              <a:t>Zenoh 内存偏高；MQTT 扇出 CPU 涨幅最大</a:t>
            </a:r>
            <a:endParaRPr sz="16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5221224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拓扑类场景三组一致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6144768"/>
            <a:ext cx="106070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微软雅黑" panose="020B0503020204020204" charset="-122"/>
              </a:rPr>
              <a:t>工程含义：先按场景选择通信模型，再用统一口径比较实现；不要脱离拓扑与消息尺寸谈“谁更快”。</a:t>
            </a:r>
            <a:endParaRPr sz="12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18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01545" y="1715135"/>
            <a:ext cx="813816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800" b="1">
                <a:solidFill>
                  <a:schemeClr val="bg1"/>
                </a:solidFill>
              </a:rPr>
              <a:t>谢谢大家</a:t>
            </a:r>
            <a:endParaRPr lang="zh-CN" altLang="en-US" sz="13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4237</Words>
  <Application>WPS 演示</Application>
  <PresentationFormat>宽屏</PresentationFormat>
  <Paragraphs>712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宋飞</cp:lastModifiedBy>
  <cp:revision>10</cp:revision>
  <dcterms:created xsi:type="dcterms:W3CDTF">2019-07-05T11:36:00Z</dcterms:created>
  <dcterms:modified xsi:type="dcterms:W3CDTF">2026-09-16T14:50:48Z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7AF1C1D713B440AD950F761E5D59023C_13</vt:lpwstr>
  </property>
  <property fmtid="{D5CDD505-2E9C-101B-9397-08002B2CF9AE}" pid="3" name="KSOProductBuildVer">
    <vt:lpwstr>2052-12.1.0.28043</vt:lpwstr>
  </property>
</Properties>
</file>