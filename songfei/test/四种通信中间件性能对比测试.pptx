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fonts/font1.fntdata" ContentType="application/x-fontdata"/>
  <Override PartName="/ppt/fonts/font2.fntdata" ContentType="application/x-fontdata"/>
  <Override PartName="/ppt/fonts/font3.fntdata" ContentType="application/x-fontdata"/>
  <Override PartName="/ppt/fonts/font4.fntdata" ContentType="application/x-fontdata"/>
  <Override PartName="/ppt/fonts/font5.fntdata" ContentType="application/x-fontdata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21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</p:sldIdLst>
  <p:sldSz cx="12192000" cy="6858000"/>
  <p:notesSz cx="6858000" cy="9144000"/>
  <p:embeddedFontLst>
    <p:embeddedFont>
      <p:font typeface="微软雅黑" panose="020B0503020204020204" charset="-122"/>
      <p:regular r:id="rId25"/>
      <p:bold r:id="rId26"/>
    </p:embeddedFont>
    <p:embeddedFont>
      <p:font typeface="等线" panose="02010600030101010101" charset="-122"/>
      <p:regular r:id="rId27"/>
      <p:bold r:id="rId28"/>
    </p:embeddedFont>
    <p:embeddedFont>
      <p:font typeface="等线 Light" panose="02010600030101010101" charset="-122"/>
      <p:regular r:id="rId29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4D94A"/>
    <a:srgbClr val="74C7B5"/>
    <a:srgbClr val="4DEAF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 showGuides="1">
      <p:cViewPr varScale="1">
        <p:scale>
          <a:sx n="86" d="100"/>
          <a:sy n="86" d="100"/>
        </p:scale>
        <p:origin x="341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9" Type="http://schemas.openxmlformats.org/officeDocument/2006/relationships/font" Target="fonts/font5.fntdata"/><Relationship Id="rId28" Type="http://schemas.openxmlformats.org/officeDocument/2006/relationships/font" Target="fonts/font4.fntdata"/><Relationship Id="rId27" Type="http://schemas.openxmlformats.org/officeDocument/2006/relationships/font" Target="fonts/font3.fntdata"/><Relationship Id="rId26" Type="http://schemas.openxmlformats.org/officeDocument/2006/relationships/font" Target="fonts/font2.fntdata"/><Relationship Id="rId25" Type="http://schemas.openxmlformats.org/officeDocument/2006/relationships/font" Target="fonts/font1.fntdata"/><Relationship Id="rId24" Type="http://schemas.openxmlformats.org/officeDocument/2006/relationships/tableStyles" Target="tableStyles.xml"/><Relationship Id="rId23" Type="http://schemas.openxmlformats.org/officeDocument/2006/relationships/viewProps" Target="viewProps.xml"/><Relationship Id="rId22" Type="http://schemas.openxmlformats.org/officeDocument/2006/relationships/presProps" Target="presProps.xml"/><Relationship Id="rId21" Type="http://schemas.openxmlformats.org/officeDocument/2006/relationships/notesMaster" Target="notesMasters/notesMaster1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37038F-C634-4229-BD40-DC87235930B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AC9067-E127-4E11-8D1F-E3CCC18EF465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 hasCustomPrompt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 hasCustomPrompt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 hasCustomPrompt="1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 hasCustomPrompt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807DC9-0199-4027-A58D-489F387FD0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C59602-90FB-4079-ACA2-AAC3D6AC7A8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47472"/>
            <a:ext cx="210312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000" b="1" i="0">
                <a:solidFill>
                  <a:srgbClr val="BED7EF"/>
                </a:solidFill>
                <a:latin typeface="微软雅黑" panose="020B0503020204020204" charset="-122"/>
              </a:rPr>
              <a:t>通信中间件性能评测</a:t>
            </a:r>
            <a:endParaRPr sz="1000" b="1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749808"/>
            <a:ext cx="10744200" cy="53975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四种通信中间件</a:t>
            </a:r>
            <a:r>
              <a:rPr lang="zh-CN" sz="2800" b="1" i="0">
                <a:solidFill>
                  <a:srgbClr val="FFFFFF"/>
                </a:solidFill>
                <a:latin typeface="微软雅黑" panose="020B0503020204020204" charset="-122"/>
              </a:rPr>
              <a:t>功能与</a:t>
            </a:r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性能对比测试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389888"/>
            <a:ext cx="1051560" cy="64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01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94360" y="1874519"/>
            <a:ext cx="694944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3100" b="1" i="0">
                <a:solidFill>
                  <a:srgbClr val="FFFFFF"/>
                </a:solidFill>
                <a:latin typeface="微软雅黑" panose="020B0503020204020204" charset="-122"/>
              </a:rPr>
              <a:t>VSOA / MQTT / Zenoh / DDS</a:t>
            </a:r>
            <a:endParaRPr sz="3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21792" y="2697480"/>
            <a:ext cx="5943600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900" b="0" i="0">
                <a:solidFill>
                  <a:srgbClr val="D6E4F2"/>
                </a:solidFill>
                <a:latin typeface="微软雅黑" panose="020B0503020204020204" charset="-122"/>
              </a:rPr>
              <a:t>应用场所 · 原理 · 测试方案 · 实测结论</a:t>
            </a:r>
            <a:endParaRPr sz="1900" b="0" i="0">
              <a:solidFill>
                <a:srgbClr val="D6E4F2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7772400" y="1737360"/>
            <a:ext cx="3474720" cy="3246120"/>
          </a:xfrm>
          <a:prstGeom prst="roundRect">
            <a:avLst/>
          </a:prstGeom>
          <a:solidFill>
            <a:srgbClr val="163D64"/>
          </a:solidFill>
          <a:ln>
            <a:solidFill>
              <a:srgbClr val="4270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138160" y="2057400"/>
            <a:ext cx="2697480" cy="41148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138160" y="2130552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VSOA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8138160" y="2679192"/>
            <a:ext cx="2697480" cy="41148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138160" y="2752344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8138160" y="3300984"/>
            <a:ext cx="2697480" cy="411480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38160" y="3374136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Zenoh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138160" y="3922776"/>
            <a:ext cx="2697480" cy="41148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138160" y="3995928"/>
            <a:ext cx="269748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DDS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21792" y="5623560"/>
            <a:ext cx="4846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BED7EF"/>
                </a:solidFill>
                <a:latin typeface="微软雅黑" panose="020B0503020204020204" charset="-122"/>
              </a:rPr>
              <a:t>汇报：通信中间件测试小组</a:t>
            </a:r>
            <a:endParaRPr sz="1200" b="0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144000" y="5623560"/>
            <a:ext cx="21031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1200" b="1" i="0">
                <a:solidFill>
                  <a:srgbClr val="BED7EF"/>
                </a:solidFill>
                <a:latin typeface="微软雅黑" panose="020B0503020204020204" charset="-122"/>
              </a:rPr>
              <a:t>2026.09</a:t>
            </a:r>
            <a:endParaRPr sz="1200" b="1" i="0">
              <a:solidFill>
                <a:srgbClr val="BED7EF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01  应用背景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四种中间件服务于不同的通信现场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02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" y="1417320"/>
            <a:ext cx="10972800" cy="38404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微软雅黑" panose="020B0503020204020204" charset="-122"/>
              </a:rPr>
              <a:t>它们并非同类替代品；应用场所决定了拓扑、可靠性和资源取舍。</a:t>
            </a:r>
            <a:endParaRPr sz="15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22959" y="2130552"/>
            <a:ext cx="566928" cy="566928"/>
          </a:xfrm>
          <a:prstGeom prst="ellipse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 panose="020B0503020204020204" charset="-122"/>
              </a:rPr>
              <a:t>AV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527048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VSOA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22959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航空电子 / 工业运动控制
车载电子 / 机器人控制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3364992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29584" y="2130552"/>
            <a:ext cx="566928" cy="566928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29584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IoT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233672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529584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IoT 设备接入
弱网遥测 / 远程监控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071616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6236207" y="2130552"/>
            <a:ext cx="566928" cy="566928"/>
          </a:xfrm>
          <a:prstGeom prst="ellipse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35572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微软雅黑" panose="020B0503020204020204" charset="-122"/>
              </a:rPr>
              <a:t>ROS</a:t>
            </a:r>
            <a:endParaRPr sz="17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940296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Zenoh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236207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ROS 2 / 自动驾驶
边缘计算 / 车路协同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8778240" y="1965960"/>
            <a:ext cx="2514600" cy="1847088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942832" y="2130552"/>
            <a:ext cx="566928" cy="566928"/>
          </a:xfrm>
          <a:prstGeom prst="ellipse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43467" y="2304923"/>
            <a:ext cx="566928" cy="25603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微软雅黑" panose="020B0503020204020204" charset="-122"/>
              </a:rPr>
              <a:t>RTPS</a:t>
            </a:r>
            <a:endParaRPr sz="13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46919" y="2130552"/>
            <a:ext cx="1481328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DDS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42832" y="2788920"/>
            <a:ext cx="2121408" cy="6766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232D3A"/>
                </a:solidFill>
                <a:latin typeface="微软雅黑" panose="020B0503020204020204" charset="-122"/>
              </a:rPr>
              <a:t>航空航天 / ADAS
工业自动化 / 医疗设备</a:t>
            </a:r>
            <a:endParaRPr sz="11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58368" y="4224528"/>
            <a:ext cx="3401568" cy="120700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58368" y="4224528"/>
            <a:ext cx="64008" cy="1207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59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VSOA：强实时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2959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微服务 + 发布订阅 + RPC 一体；小包高频控制。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4160520" y="4224528"/>
            <a:ext cx="3401568" cy="1207008"/>
          </a:xfrm>
          <a:prstGeom prst="roundRect">
            <a:avLst/>
          </a:prstGeom>
          <a:solidFill>
            <a:srgbClr val="FFF8E1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4160520" y="4224528"/>
            <a:ext cx="64008" cy="1207008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325112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MQTT：弱网接入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4325112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Broker 中继换取极简终端；QoS 分级可靠。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7662672" y="4224528"/>
            <a:ext cx="3401568" cy="1207008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7662672" y="4224528"/>
            <a:ext cx="64008" cy="1207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827264" y="4334256"/>
            <a:ext cx="31272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Zenoh / DDS：广域与确定性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827264" y="4672584"/>
            <a:ext cx="31272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Zenoh 去中心；DDS 以数据为中心、QoS 丰富。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01  应用背景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从应用场所推导四个正交评价维度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03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40080" y="1399032"/>
            <a:ext cx="10972800" cy="31089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0" i="0">
                <a:solidFill>
                  <a:srgbClr val="232D3A"/>
                </a:solidFill>
                <a:latin typeface="微软雅黑" panose="020B0503020204020204" charset="-122"/>
              </a:rPr>
              <a:t>应用场所 → 负载特征 → 测试维度，确保每个压力方向都有工程含义。</a:t>
            </a:r>
            <a:endParaRPr sz="15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658368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463040" y="2121408"/>
            <a:ext cx="868680" cy="868680"/>
          </a:xfrm>
          <a:prstGeom prst="ellipse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63040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速率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59536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控制指令、状态回传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59536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小包、稳定的高频发送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987552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100–10,000 Hz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3438144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4242816" y="2121408"/>
            <a:ext cx="868680" cy="868680"/>
          </a:xfrm>
          <a:prstGeom prst="ellipse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42816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尺寸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39312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图像、点云、配置下发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39312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单条消息体积跨度大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3767328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767328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 KiB–1 MiB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217920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7022592" y="2121408"/>
            <a:ext cx="868680" cy="868680"/>
          </a:xfrm>
          <a:prstGeom prst="ellipse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22592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拓扑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419088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多传感器汇聚 / 多订阅者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419088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端数变化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547104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547104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1×1–4×4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8997696" y="1874519"/>
            <a:ext cx="2487168" cy="3456432"/>
          </a:xfrm>
          <a:prstGeom prst="roundRect">
            <a:avLst/>
          </a:prstGeom>
          <a:solidFill>
            <a:srgbClr val="FFFFFF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802368" y="2121408"/>
            <a:ext cx="868680" cy="868680"/>
          </a:xfrm>
          <a:prstGeom prst="ellipse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802368" y="2368296"/>
            <a:ext cx="868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时间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9198864" y="3182112"/>
            <a:ext cx="2084831" cy="4114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400" b="1" i="0">
                <a:solidFill>
                  <a:srgbClr val="1F4E79"/>
                </a:solidFill>
                <a:latin typeface="微软雅黑" panose="020B0503020204020204" charset="-122"/>
              </a:rPr>
              <a:t>车机 / 工业现场长稳</a:t>
            </a:r>
            <a:endParaRPr sz="14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9198864" y="3767328"/>
            <a:ext cx="2084831" cy="56692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持续负载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9326880" y="4773168"/>
            <a:ext cx="182880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326880" y="4782312"/>
            <a:ext cx="182880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4 档 × 100 s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37" name="Connector 36"/>
          <p:cNvCxnSpPr/>
          <p:nvPr/>
        </p:nvCxnSpPr>
        <p:spPr>
          <a:xfrm>
            <a:off x="3127248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5907024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8686800" y="5669280"/>
            <a:ext cx="603504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58368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应用共性需求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3438144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负载特征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217920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测试因子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997696" y="5650992"/>
            <a:ext cx="233172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可复现实验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原理（1）VSOA：机制决定性能拐点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04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VSOA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原生微服务 / 发布订阅框架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原生微服务 / 发布订阅框架
TCP（本次测试）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应用层分片 60,000 B；1 MiB = 18 片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整包延迟由最慢分片决定；小包高频路径占优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VSOA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</a:rPr>
              <a:t>分片阈值 60,000 B：48 KiB 不分片，64 KiB 起切换路径。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原理（2）MQTT：机制决定性能拐点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05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1F4E79"/>
                </a:solidFill>
                <a:latin typeface="微软雅黑" panose="020B0503020204020204" charset="-122"/>
              </a:rPr>
              <a:t>MQTT</a:t>
            </a:r>
            <a:endParaRPr sz="28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轻量级发布订阅，Broker 中继两跳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轻量级发布订阅，Broker 中继两跳
TCP；QoS 1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Broker 完整接收再转发；会话与重传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固定中继延迟；大消息多一次拷贝与排队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MQTT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FFC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ED7D31"/>
                </a:solidFill>
                <a:latin typeface="微软雅黑" panose="020B0503020204020204" charset="-122"/>
              </a:rPr>
              <a:t>Broker 是数据转发中心：扇出时 CPU 成本集中在单点。</a:t>
            </a:r>
            <a:endParaRPr sz="13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原理（3）Zenoh：机制决定性能拐点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06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Zenoh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Rust 实现；可 P2P 直连、无需 Broker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Rust 实现；可 P2P 直连、无需 Broker
默认 TCP（本次配置）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Endpoint 直连；调度在 Rust runtime 内完成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中小消息延迟与 CPU 有优势；runtime 内存偏高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Zenoh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0096A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0096A0"/>
                </a:solidFill>
                <a:latin typeface="微软雅黑" panose="020B0503020204020204" charset="-122"/>
              </a:rPr>
              <a:t>无中心转发：中小消息避免额外一跳，但 runtime 需要缓冲空间。</a:t>
            </a:r>
            <a:endParaRPr sz="1300" b="1" i="0">
              <a:solidFill>
                <a:srgbClr val="0096A0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02  原理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原理（4）DDS：机制决定性能拐点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07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536192"/>
            <a:ext cx="2011680" cy="4480560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1993392"/>
            <a:ext cx="1645920" cy="5029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微软雅黑" panose="020B0503020204020204" charset="-122"/>
              </a:rPr>
              <a:t>DDS</a:t>
            </a:r>
            <a:endParaRPr sz="2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41248" y="2788920"/>
            <a:ext cx="1645920" cy="11155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ctr"/>
            <a:r>
              <a:rPr sz="1500" b="1" i="0">
                <a:solidFill>
                  <a:srgbClr val="FFFFFF"/>
                </a:solidFill>
                <a:latin typeface="微软雅黑" panose="020B0503020204020204" charset="-122"/>
              </a:rPr>
              <a:t>以数据为中心的 RTPS 栈（Fast DDS 3.6.2）</a:t>
            </a:r>
            <a:endParaRPr sz="15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2999232" y="1600200"/>
            <a:ext cx="365760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2999232" y="1600200"/>
            <a:ext cx="64008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63824" y="1709928"/>
            <a:ext cx="338328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传输与定位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163824" y="2048256"/>
            <a:ext cx="338328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以数据为中心的 RTPS 栈（Fast DDS 3.6.2）
UDPv4 + reliable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903720" y="1600200"/>
            <a:ext cx="4526280" cy="1143000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903720" y="1600200"/>
            <a:ext cx="64008" cy="114300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68312" y="1709928"/>
            <a:ext cx="425196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关键机制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68312" y="2048256"/>
            <a:ext cx="4251960" cy="63093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自动发现 + 丰富 QoS + RTPS 分片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999232" y="3063240"/>
            <a:ext cx="8430768" cy="123444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2999232" y="3063240"/>
            <a:ext cx="64008" cy="1234440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163824" y="3172968"/>
            <a:ext cx="8156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对性能的直接影响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163824" y="3511296"/>
            <a:ext cx="8156448" cy="72237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QoS / history / flow controller 显著影响高负载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3035808" y="4681728"/>
            <a:ext cx="9144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1" i="0">
                <a:solidFill>
                  <a:srgbClr val="606C7A"/>
                </a:solidFill>
                <a:latin typeface="微软雅黑" panose="020B0503020204020204" charset="-122"/>
              </a:rPr>
              <a:t>机制</a:t>
            </a:r>
            <a:endParaRPr sz="1100" b="1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3886200" y="4645152"/>
            <a:ext cx="196596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886200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DDS 路径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6" name="Connector 25"/>
          <p:cNvCxnSpPr/>
          <p:nvPr/>
        </p:nvCxnSpPr>
        <p:spPr>
          <a:xfrm>
            <a:off x="5989320" y="4782312"/>
            <a:ext cx="640080" cy="0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748272" y="4645152"/>
            <a:ext cx="1965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748272" y="4654296"/>
            <a:ext cx="1965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延迟 / 吞吐 / 尾部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cxnSp>
        <p:nvCxnSpPr>
          <p:cNvPr id="29" name="Connector 28"/>
          <p:cNvCxnSpPr/>
          <p:nvPr/>
        </p:nvCxnSpPr>
        <p:spPr>
          <a:xfrm>
            <a:off x="8851392" y="4782312"/>
            <a:ext cx="640080" cy="0"/>
          </a:xfrm>
          <a:prstGeom prst="line">
            <a:avLst/>
          </a:prstGeom>
          <a:ln w="2794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01200" y="4645152"/>
            <a:ext cx="1417320" cy="283464"/>
          </a:xfrm>
          <a:prstGeom prst="roundRect">
            <a:avLst/>
          </a:prstGeom>
          <a:solidFill>
            <a:srgbClr val="E8F0F9"/>
          </a:solidFill>
          <a:ln>
            <a:solidFill>
              <a:srgbClr val="E8F0F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601200" y="4654296"/>
            <a:ext cx="141732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1F4E79"/>
                </a:solidFill>
                <a:latin typeface="微软雅黑" panose="020B0503020204020204" charset="-122"/>
              </a:rPr>
              <a:t>实测差异</a:t>
            </a:r>
            <a:endParaRPr sz="10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035808" y="5230368"/>
            <a:ext cx="8138160" cy="32918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1" i="0">
                <a:solidFill>
                  <a:srgbClr val="4472C4"/>
                </a:solidFill>
                <a:latin typeface="微软雅黑" panose="020B0503020204020204" charset="-122"/>
              </a:rPr>
              <a:t>UDPv4 + reliable 与自动发现：确定性来自一致的 QoS 配置。</a:t>
            </a:r>
            <a:endParaRPr sz="13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03  横向对比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四种实现的结构性差异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08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81328"/>
          <a:ext cx="1088136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2240280"/>
                <a:gridCol w="2240280"/>
                <a:gridCol w="2240280"/>
                <a:gridCol w="233172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维度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VSOA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MQTT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Zenoh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DDS</a:t>
                      </a:r>
                      <a:endParaRPr sz="10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实现形态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C++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 broker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Rust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C++ + Python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通信拓扑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直连（Position）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中继（两跳）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P2P 直连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直连（自动发现）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传输（本次）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默认 TCP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UDPv4 / reliable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发现机制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Position 服务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会话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Endpoint 直配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自动发现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大消息策略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应用层分片 60,000 B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Broker 整体转发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原生传输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RTPS 分片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QoS 丰富度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少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QoS 0/1/2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优先级 / 可靠性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最丰富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0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中心节点</a:t>
                      </a:r>
                      <a:endParaRPr sz="10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有（仅发现）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有（数据转发）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无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无</a:t>
                      </a:r>
                      <a:endParaRPr sz="10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822959" y="6190488"/>
            <a:ext cx="10607040" cy="27813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00" b="0" i="0">
                <a:solidFill>
                  <a:srgbClr val="232D3A"/>
                </a:solidFill>
                <a:latin typeface="微软雅黑" panose="020B0503020204020204" charset="-122"/>
              </a:rPr>
              <a:t>。</a:t>
            </a:r>
            <a:endParaRPr sz="11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场景矩阵：每个场景只动一个影响因子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09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1088136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600200"/>
                <a:gridCol w="4754880"/>
                <a:gridCol w="31089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场景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影响因子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档位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主要指标</a:t>
                      </a:r>
                      <a:endParaRPr sz="95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S01 点对点低延迟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发送速率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/ 500 / 1000 / 2000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延迟、P95、P99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S02 消息大小扫描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payload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4 / 16 / 32 / 48 / 64 KiB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延迟、吞吐、丢包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S03 大消息吞吐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payload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64 / 128 / 256 / 512 KiB@20 Hz + 1 MiB@5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吞吐、P95、P99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S04 发送速率扫描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发送速率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/ 1000 / 5000 / 10000 Hz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达成率、P99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S05 一对多扇出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订阅者数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2 / 3 / 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交付、资源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S06 多对一汇聚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发布者数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 / 2 / 3 / 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交付、CPU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S07 多对多并发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P×S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1×1 … 4×4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吞吐、资源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95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S08 长时间稳定性</a:t>
                      </a:r>
                      <a:endParaRPr sz="95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持续负载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4 档 × 100 s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5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漂移、内存</a:t>
                      </a:r>
                      <a:endParaRPr sz="95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1520" y="5916168"/>
            <a:ext cx="3108960" cy="283464"/>
          </a:xfrm>
          <a:prstGeom prst="roundRect">
            <a:avLst/>
          </a:prstGeom>
          <a:solidFill>
            <a:srgbClr val="FDF1E6"/>
          </a:solidFill>
          <a:ln>
            <a:solidFill>
              <a:srgbClr val="FDF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5925312"/>
            <a:ext cx="3108960" cy="2286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050" b="1" i="0">
                <a:solidFill>
                  <a:srgbClr val="ED7D31"/>
                </a:solidFill>
                <a:latin typeface="微软雅黑" panose="020B0503020204020204" charset="-122"/>
              </a:rPr>
              <a:t>统一参数组 · 统一入口 · 可断点续跑</a:t>
            </a:r>
            <a:endParaRPr sz="105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069080" y="5916168"/>
            <a:ext cx="71323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50" b="0" i="0">
                <a:solidFill>
                  <a:srgbClr val="606C7A"/>
                </a:solidFill>
                <a:latin typeface="微软雅黑" panose="020B0503020204020204" charset="-122"/>
              </a:rPr>
              <a:t>拓扑默认固定为 1P / 1S，拓扑类场景除外。</a:t>
            </a:r>
            <a:endParaRPr sz="115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统一指标口径：从逐样本到派生结论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10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58368" y="1417320"/>
          <a:ext cx="6400800" cy="42428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1554480"/>
                <a:gridCol w="3657600"/>
              </a:tblGrid>
              <a:tr h="53035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编号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指标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公式 / 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U-1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单程延迟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(aᵢ − sᵢ) / 1e6（两端同一时基）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U-2 / U-3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均值 / 分位数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mean(d)；h=(n−1)k 线性插值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U-4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标准差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pstdev（总体标准差，ddof=0）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U-5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抖动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mean(|dᵢ − dᵢ₋₁|)，仅取相邻序号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U-6 / U-7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 / 应发吞吐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N × S × 8 / 窗口 / 1e6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U-8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丢包率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(E − N_recv) / E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U-9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达成率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达成吞吐 ÷ 应发吞吐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7360920" y="1572768"/>
            <a:ext cx="4160520" cy="1170432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360920" y="1572768"/>
            <a:ext cx="64008" cy="1170432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25512" y="1682495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净荷口径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525512" y="2020824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吞吐不含协议头、不折算重传；统一使用十进制 1e6。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360920" y="2907792"/>
            <a:ext cx="4160520" cy="117043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360920" y="2907792"/>
            <a:ext cx="64008" cy="117043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25512" y="3017520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时间口径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525512" y="3355848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warmup=1.0 s 不计统计；drain=2.0 s 仅收尾，不计丢包。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7360920" y="4242816"/>
            <a:ext cx="4160520" cy="117043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360920" y="4242816"/>
            <a:ext cx="64008" cy="117043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25512" y="4352544"/>
            <a:ext cx="388620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计数口径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525512" y="4690872"/>
            <a:ext cx="3886200" cy="65836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一律取去重后计数；四家共用 mqtt/mqtt_metrics.py。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04  测试方案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执行环境与数据规模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11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3337560" cy="1207008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58368" y="1481328"/>
            <a:ext cx="64008" cy="1207008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59" y="1591056"/>
            <a:ext cx="3063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环境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22959" y="1929384"/>
            <a:ext cx="306324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Windows 本机回环
16 逻辑核；同一解释器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2" name="Rounded Rectangle 11"/>
          <p:cNvSpPr/>
          <p:nvPr/>
        </p:nvSpPr>
        <p:spPr>
          <a:xfrm>
            <a:off x="4169663" y="1481328"/>
            <a:ext cx="3337560" cy="120700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169663" y="1481328"/>
            <a:ext cx="64008" cy="120700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34255" y="1591056"/>
            <a:ext cx="306324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数据规模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334255" y="1929384"/>
            <a:ext cx="3063240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VSOA / MQTT / Zenoh：各 35 组
DDS：32 组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7680960" y="1481328"/>
            <a:ext cx="3858768" cy="1207008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680960" y="1481328"/>
            <a:ext cx="64008" cy="1207008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1591056"/>
            <a:ext cx="3584448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运行方式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845552" y="1929384"/>
            <a:ext cx="3584448" cy="6949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0" i="0">
                <a:solidFill>
                  <a:srgbClr val="232D3A"/>
                </a:solidFill>
                <a:latin typeface="微软雅黑" panose="020B0503020204020204" charset="-122"/>
              </a:rPr>
              <a:t>统一入口批量执行
结果按组落盘，支持断点续跑</a:t>
            </a:r>
            <a:endParaRPr sz="125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58368" y="3063240"/>
          <a:ext cx="64922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1691640"/>
                <a:gridCol w="2880360"/>
              </a:tblGrid>
              <a:tr h="4572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参数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取值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微软雅黑" panose="020B0503020204020204" charset="-122"/>
                        </a:rPr>
                        <a:t>说明</a:t>
                      </a:r>
                      <a:endParaRPr sz="1100" b="1">
                        <a:solidFill>
                          <a:srgbClr val="FFFFFF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1F4E7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拓扑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1P / 1S（拓扑类除外）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保证单变量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warmup_seconds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1.0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不计入统计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drain_seconds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2.0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四家统一，避免尾部误记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S08 时长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100 s / 档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四档覆盖轻到重负载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100" b="1">
                          <a:solidFill>
                            <a:srgbClr val="1F4E79"/>
                          </a:solidFill>
                          <a:latin typeface="微软雅黑" panose="020B0503020204020204" charset="-122"/>
                        </a:rPr>
                        <a:t>校验</a:t>
                      </a:r>
                      <a:endParaRPr sz="1100" b="1">
                        <a:solidFill>
                          <a:srgbClr val="1F4E79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status = completed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232D3A"/>
                          </a:solidFill>
                          <a:latin typeface="微软雅黑" panose="020B0503020204020204" charset="-122"/>
                        </a:rPr>
                        <a:t>未完成组重跑补齐</a:t>
                      </a:r>
                      <a:endParaRPr sz="1100" b="0">
                        <a:solidFill>
                          <a:srgbClr val="232D3A"/>
                        </a:solidFill>
                        <a:latin typeface="微软雅黑" panose="020B0503020204020204" charset="-122"/>
                      </a:endParaRPr>
                    </a:p>
                  </a:txBody>
                  <a:tcPr marL="54864" marR="54864" marT="36576" marB="36576">
                    <a:solidFill>
                      <a:srgbClr val="F2F6FA"/>
                    </a:solidFill>
                  </a:tcPr>
                </a:tc>
              </a:tr>
            </a:tbl>
          </a:graphicData>
        </a:graphic>
      </p:graphicFrame>
      <p:sp>
        <p:nvSpPr>
          <p:cNvPr id="21" name="Rounded Rectangle 20"/>
          <p:cNvSpPr/>
          <p:nvPr/>
        </p:nvSpPr>
        <p:spPr>
          <a:xfrm>
            <a:off x="7452360" y="3063240"/>
            <a:ext cx="4087368" cy="2514600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717536" y="3310128"/>
            <a:ext cx="35661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1F4E79"/>
                </a:solidFill>
                <a:latin typeface="微软雅黑" panose="020B0503020204020204" charset="-122"/>
              </a:rPr>
              <a:t>可回溯性</a:t>
            </a:r>
            <a:endParaRPr sz="16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717536" y="3730752"/>
            <a:ext cx="3474720" cy="1325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300" b="0" i="0">
                <a:solidFill>
                  <a:srgbClr val="232D3A"/>
                </a:solidFill>
                <a:latin typeface="微软雅黑" panose="020B0503020204020204" charset="-122"/>
              </a:rPr>
              <a:t>每组结果记录完整参数与指标，可回溯到原始逐样本。
统一脚本保证四家在同一参数指纹下横向并表。</a:t>
            </a:r>
            <a:endParaRPr sz="13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延迟水平与可重复性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12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repeatabilit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69080" y="1892300"/>
            <a:ext cx="7889875" cy="336613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6 个场景中都存在同一条件（1P/1S、1 KiB、1000 Hz），构成天然交叉验证。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VSOA &lt; MQTT &lt; Zenoh：排序在 6 个场景中完全一致。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VSOA 延迟水平最低且重复性最好；MQTT 尾部最稳定；Zenoh 离散度最大。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图：songfei/test/compare_repeatability.png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消息大小阶梯与分片拐点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13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2_payload_kne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110" y="1120140"/>
            <a:ext cx="7275830" cy="485076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竖向虚线 = VSOA 分片阈值 60,000 B；48 KiB 不分片，64 KiB 起切成 2 片。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48 → 64 KiB：VSOA 均值 +47%、P99 +70%；MQTT P99 ×7.5；Zenoh 基本无跳变。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这是机制切换点：从 48 KiB 到 64 KiB 不是量变，而是路径切换。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图：songfei/test/compare_S02_payload_knee.png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大消息的尾部代价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14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3_large_message_tail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09110" y="1024255"/>
            <a:ext cx="7419340" cy="494665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核心指标：P99 ÷ P95，衡量尾部被拉长了几倍。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1 MiB @5 Hz：VSOA 3.44×，MQTT 1.55×，Zenoh 1.09×。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VSOA 的 18 片分片放大尾部；Zenoh 尾部最平、均值也最低。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图：songfei/test/compare_S03_large_message_tail.png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拓扑成本结构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15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5_S07_topology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806950" y="575310"/>
            <a:ext cx="6906260" cy="5395595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扇出、汇聚、并发 × 延迟 / 内存 / CPU。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吞吐随 payload × 速率 × P × S 线性增长；误差 &lt;1%。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MQTT 扇出 CPU 涨幅最大；Zenoh 内存结构性偏高；延迟对拓扑规模弱敏感。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图：songfei/test/compare_S05_S07_topology.png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长时间稳定性与漂移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16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pic>
        <p:nvPicPr>
          <p:cNvPr id="8" name="Picture 7" descr="compare_S08_drift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30675" y="1006475"/>
            <a:ext cx="7838440" cy="496443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58368" y="1444752"/>
            <a:ext cx="3063240" cy="1353312"/>
          </a:xfrm>
          <a:prstGeom prst="roundRect">
            <a:avLst/>
          </a:prstGeom>
          <a:solidFill>
            <a:srgbClr val="E8F0F9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444752"/>
            <a:ext cx="64008" cy="1353312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59" y="1554480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方法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22959" y="1892808"/>
            <a:ext cx="2788920" cy="841247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S08 组2：1 KiB @1000 Hz，100 s，按 10 s 分桶。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980944"/>
            <a:ext cx="3063240" cy="1481328"/>
          </a:xfrm>
          <a:prstGeom prst="roundRect">
            <a:avLst/>
          </a:prstGeom>
          <a:solidFill>
            <a:srgbClr val="FDF1E6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58368" y="2980944"/>
            <a:ext cx="64008" cy="1481328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59" y="3090672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核心发现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22959" y="3429000"/>
            <a:ext cx="2788920" cy="96926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00" b="0" i="0">
                <a:solidFill>
                  <a:srgbClr val="232D3A"/>
                </a:solidFill>
                <a:latin typeface="微软雅黑" panose="020B0503020204020204" charset="-122"/>
              </a:rPr>
              <a:t>漂移：VSOA +2.9%，MQTT −1.6%，Zenoh −18.6%。</a:t>
            </a:r>
            <a:endParaRPr sz="120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58368" y="4663440"/>
            <a:ext cx="3063240" cy="987552"/>
          </a:xfrm>
          <a:prstGeom prst="roundRect">
            <a:avLst/>
          </a:prstGeom>
          <a:solidFill>
            <a:srgbClr val="F2F6FA"/>
          </a:solidFill>
          <a:ln>
            <a:solidFill>
              <a:srgbClr val="DCE4E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58368" y="4663440"/>
            <a:ext cx="64008" cy="987552"/>
          </a:xfrm>
          <a:prstGeom prst="rect">
            <a:avLst/>
          </a:prstGeom>
          <a:solidFill>
            <a:srgbClr val="0096A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" y="4773168"/>
            <a:ext cx="2788920" cy="27432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结论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2959" y="5111496"/>
            <a:ext cx="278892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120" b="0" i="0">
                <a:solidFill>
                  <a:srgbClr val="232D3A"/>
                </a:solidFill>
                <a:latin typeface="微软雅黑" panose="020B0503020204020204" charset="-122"/>
              </a:rPr>
              <a:t>三家均无持续劣化；差异集中在进入稳态所需时间，Zenoh 约需 25 s 预热。</a:t>
            </a:r>
            <a:endParaRPr sz="112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096512" y="5961888"/>
            <a:ext cx="6949440" cy="237744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50" b="0" i="1">
                <a:solidFill>
                  <a:srgbClr val="606C7A"/>
                </a:solidFill>
                <a:latin typeface="微软雅黑" panose="020B0503020204020204" charset="-122"/>
              </a:rPr>
              <a:t>图：songfei/test/compare_S08_drift.png</a:t>
            </a:r>
            <a:endParaRPr sz="850" b="0" i="1">
              <a:solidFill>
                <a:srgbClr val="606C7A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274320"/>
            <a:ext cx="228600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900" b="1" i="0">
                <a:solidFill>
                  <a:srgbClr val="4472C4"/>
                </a:solidFill>
                <a:latin typeface="微软雅黑" panose="020B0503020204020204" charset="-122"/>
              </a:rPr>
              <a:t>05  测试结论</a:t>
            </a:r>
            <a:endParaRPr sz="9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66928" y="548640"/>
            <a:ext cx="10744200" cy="475488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2500" b="1" i="0">
                <a:solidFill>
                  <a:srgbClr val="1F4E79"/>
                </a:solidFill>
                <a:latin typeface="微软雅黑" panose="020B0503020204020204" charset="-122"/>
              </a:rPr>
              <a:t>四条可横向引用的结论</a:t>
            </a:r>
            <a:endParaRPr sz="2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66928" y="1188720"/>
            <a:ext cx="1005840" cy="54864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17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66928" y="6382512"/>
            <a:ext cx="11018520" cy="10972"/>
          </a:xfrm>
          <a:prstGeom prst="rect">
            <a:avLst/>
          </a:prstGeom>
          <a:solidFill>
            <a:srgbClr val="DEE4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6928" y="6464808"/>
            <a:ext cx="5120640" cy="16459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800" b="0" i="0">
                <a:solidFill>
                  <a:srgbClr val="606C7A"/>
                </a:solidFill>
                <a:latin typeface="微软雅黑" panose="020B0503020204020204" charset="-122"/>
              </a:rPr>
              <a:t>四种通信中间件性能对比测试</a:t>
            </a:r>
            <a:endParaRPr sz="800" b="0" i="0">
              <a:solidFill>
                <a:srgbClr val="606C7A"/>
              </a:solidFill>
              <a:latin typeface="微软雅黑" panose="020B0503020204020204" charset="-122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58368" y="1481328"/>
            <a:ext cx="932688" cy="786384"/>
          </a:xfrm>
          <a:prstGeom prst="roundRect">
            <a:avLst/>
          </a:prstGeom>
          <a:solidFill>
            <a:srgbClr val="4472C4"/>
          </a:solidFill>
          <a:ln>
            <a:solidFill>
              <a:srgbClr val="4472C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682496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01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810512" y="1545336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延迟排序稳定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810512" y="1865376"/>
            <a:ext cx="4754880" cy="354965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4472C4"/>
                </a:solidFill>
                <a:latin typeface="微软雅黑" panose="020B0503020204020204" charset="-122"/>
              </a:rPr>
              <a:t>VSOA &lt; MQTT &lt; Zenoh</a:t>
            </a:r>
            <a:r>
              <a:rPr lang="en-US" sz="1600" b="1" i="0">
                <a:solidFill>
                  <a:srgbClr val="4472C4"/>
                </a:solidFill>
                <a:latin typeface="微软雅黑" panose="020B0503020204020204" charset="-122"/>
              </a:rPr>
              <a:t>&lt;DDS</a:t>
            </a:r>
            <a:endParaRPr lang="en-US" sz="1600" b="1" i="0">
              <a:solidFill>
                <a:srgbClr val="4472C4"/>
              </a:solidFill>
              <a:latin typeface="微软雅黑" panose="020B0503020204020204" charset="-122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629400" y="1709928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6 个场景交叉验证一致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658368" y="2651760"/>
            <a:ext cx="932688" cy="786384"/>
          </a:xfrm>
          <a:prstGeom prst="roundRect">
            <a:avLst/>
          </a:prstGeom>
          <a:solidFill>
            <a:srgbClr val="ED7D31"/>
          </a:solidFill>
          <a:ln>
            <a:solidFill>
              <a:srgbClr val="ED7D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852928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02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810512" y="2715768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VSOA 有明确切换点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1810512" y="3035808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微软雅黑" panose="020B0503020204020204" charset="-122"/>
              </a:rPr>
              <a:t>48→64 KiB：均值 +47%、P99 +70%</a:t>
            </a:r>
            <a:endParaRPr sz="16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629400" y="2880360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S02 六档阶梯；四家同参数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58368" y="3822191"/>
            <a:ext cx="932688" cy="786384"/>
          </a:xfrm>
          <a:prstGeom prst="roundRect">
            <a:avLst/>
          </a:prstGeom>
          <a:solidFill>
            <a:srgbClr val="0096A0"/>
          </a:solidFill>
          <a:ln>
            <a:solidFill>
              <a:srgbClr val="0096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8" y="4023359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FFFFFF"/>
                </a:solidFill>
                <a:latin typeface="微软雅黑" panose="020B0503020204020204" charset="-122"/>
              </a:rPr>
              <a:t>03</a:t>
            </a:r>
            <a:endParaRPr sz="19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810512" y="3886200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大消息尾部代价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810512" y="4206240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0096A0"/>
                </a:solidFill>
                <a:latin typeface="微软雅黑" panose="020B0503020204020204" charset="-122"/>
              </a:rPr>
              <a:t>VSOA 3.44× · MQTT 1.55× · Zenoh 1.09×</a:t>
            </a:r>
            <a:endParaRPr sz="1600" b="1" i="0">
              <a:solidFill>
                <a:srgbClr val="0096A0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629400" y="4050791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S03 五档；与分片机制对应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58368" y="4992624"/>
            <a:ext cx="932688" cy="786384"/>
          </a:xfrm>
          <a:prstGeom prst="roundRect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193792"/>
            <a:ext cx="932688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900" b="1" i="0">
                <a:solidFill>
                  <a:srgbClr val="1F4E79"/>
                </a:solidFill>
                <a:latin typeface="微软雅黑" panose="020B0503020204020204" charset="-122"/>
              </a:rPr>
              <a:t>04</a:t>
            </a:r>
            <a:endParaRPr sz="19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1810512" y="5056632"/>
            <a:ext cx="3108960" cy="256032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500" b="1" i="0">
                <a:solidFill>
                  <a:srgbClr val="1F4E79"/>
                </a:solidFill>
                <a:latin typeface="微软雅黑" panose="020B0503020204020204" charset="-122"/>
              </a:rPr>
              <a:t>资源成本结构不同</a:t>
            </a:r>
            <a:endParaRPr sz="150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1810512" y="5376672"/>
            <a:ext cx="475488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600" b="1" i="0">
                <a:solidFill>
                  <a:srgbClr val="ED7D31"/>
                </a:solidFill>
                <a:latin typeface="微软雅黑" panose="020B0503020204020204" charset="-122"/>
              </a:rPr>
              <a:t>Zenoh 内存偏高；MQTT 扇出 CPU 涨幅最大</a:t>
            </a:r>
            <a:endParaRPr sz="1600" b="1" i="0">
              <a:solidFill>
                <a:srgbClr val="ED7D31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629400" y="5221224"/>
            <a:ext cx="4663440" cy="22860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30" b="0" i="0">
                <a:solidFill>
                  <a:srgbClr val="232D3A"/>
                </a:solidFill>
                <a:latin typeface="微软雅黑" panose="020B0503020204020204" charset="-122"/>
              </a:rPr>
              <a:t>拓扑类场景三组一致</a:t>
            </a:r>
            <a:endParaRPr sz="1230" b="0" i="0">
              <a:solidFill>
                <a:srgbClr val="232D3A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58368" y="6144768"/>
            <a:ext cx="10607040" cy="219456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l"/>
            <a:r>
              <a:rPr sz="1250" b="1" i="0">
                <a:solidFill>
                  <a:srgbClr val="1F4E79"/>
                </a:solidFill>
                <a:latin typeface="微软雅黑" panose="020B0503020204020204" charset="-122"/>
              </a:rPr>
              <a:t>工程含义：先按场景选择通信模型，再用统一口径比较实现；不要脱离拓扑与消息尺寸谈“谁更快”。</a:t>
            </a:r>
            <a:endParaRPr sz="1250" b="1" i="0">
              <a:solidFill>
                <a:srgbClr val="1F4E79"/>
              </a:solidFill>
              <a:latin typeface="微软雅黑" panose="020B0503020204020204" charset="-122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5" name="TextBox 4"/>
          <p:cNvSpPr txBox="1"/>
          <p:nvPr/>
        </p:nvSpPr>
        <p:spPr>
          <a:xfrm>
            <a:off x="11155680" y="6473952"/>
            <a:ext cx="457200" cy="182880"/>
          </a:xfrm>
          <a:prstGeom prst="rect">
            <a:avLst/>
          </a:prstGeom>
          <a:noFill/>
        </p:spPr>
        <p:txBody>
          <a:bodyPr wrap="square" lIns="54864" tIns="54864" rIns="54864" bIns="54864" anchor="t">
            <a:spAutoFit/>
          </a:bodyPr>
          <a:lstStyle/>
          <a:p>
            <a:pPr algn="r"/>
            <a:r>
              <a:rPr sz="900" b="1" i="0">
                <a:solidFill>
                  <a:srgbClr val="96A0AA"/>
                </a:solidFill>
                <a:latin typeface="微软雅黑" panose="020B0503020204020204" charset="-122"/>
              </a:rPr>
              <a:t>18</a:t>
            </a:r>
            <a:endParaRPr sz="900" b="1" i="0">
              <a:solidFill>
                <a:srgbClr val="96A0AA"/>
              </a:solidFill>
              <a:latin typeface="微软雅黑" panose="020B0503020204020204" charset="-122"/>
            </a:endParaRPr>
          </a:p>
        </p:txBody>
      </p:sp>
      <p:sp>
        <p:nvSpPr>
          <p:cNvPr id="26" name="文本框 25"/>
          <p:cNvSpPr txBox="1"/>
          <p:nvPr/>
        </p:nvSpPr>
        <p:spPr>
          <a:xfrm>
            <a:off x="2201545" y="1715135"/>
            <a:ext cx="8138160" cy="22148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3800" b="1">
                <a:solidFill>
                  <a:schemeClr val="bg1"/>
                </a:solidFill>
              </a:rPr>
              <a:t>谢谢大家</a:t>
            </a:r>
            <a:endParaRPr lang="zh-CN" altLang="en-US" sz="13800" b="1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4241</Words>
  <Application>WPS 演示</Application>
  <PresentationFormat>宽屏</PresentationFormat>
  <Paragraphs>712</Paragraphs>
  <Slides>18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18</vt:i4>
      </vt:variant>
    </vt:vector>
  </HeadingPairs>
  <TitlesOfParts>
    <vt:vector size="27" baseType="lpstr">
      <vt:lpstr>Arial</vt:lpstr>
      <vt:lpstr>宋体</vt:lpstr>
      <vt:lpstr>Wingdings</vt:lpstr>
      <vt:lpstr>微软雅黑</vt:lpstr>
      <vt:lpstr>等线</vt:lpstr>
      <vt:lpstr>Arial Unicode MS</vt:lpstr>
      <vt:lpstr>等线 Light</vt:lpstr>
      <vt:lpstr>Calibri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office</dc:creator>
  <cp:lastModifiedBy>宋飞</cp:lastModifiedBy>
  <cp:revision>13</cp:revision>
  <dcterms:created xsi:type="dcterms:W3CDTF">2019-07-05T11:36:00Z</dcterms:created>
  <dcterms:modified xsi:type="dcterms:W3CDTF">2026-09-17T06:22:58Z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7AF1C1D713B440AD950F761E5D59023C_13</vt:lpwstr>
  </property>
  <property fmtid="{D5CDD505-2E9C-101B-9397-08002B2CF9AE}" pid="3" name="KSOProductBuildVer">
    <vt:lpwstr>2052-12.1.0.28043</vt:lpwstr>
  </property>
</Properties>
</file>